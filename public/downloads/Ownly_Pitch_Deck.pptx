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aa009c0d-4445-36da-018e-06a24433d6cb}">
          <p14:sldIdLst>
            <p14:sldId id="256"/>
          </p14:sldIdLst>
        </p14:section>
        <p14:section name="Problem" id="{c4240e15-0fc1-f5c9-b8a6-cb921f755b51}">
          <p14:sldIdLst>
            <p14:sldId id="257"/>
          </p14:sldIdLst>
        </p14:section>
        <p14:section name="Why it matters" id="{baee65ec-d658-ce6e-947a-2dd7e5b35ea8}">
          <p14:sldIdLst>
            <p14:sldId id="258"/>
          </p14:sldIdLst>
        </p14:section>
        <p14:section name="Insight" id="{fad23997-cf92-2ccb-e1e2-83cc88190b91}">
          <p14:sldIdLst>
            <p14:sldId id="259"/>
          </p14:sldIdLst>
        </p14:section>
        <p14:section name="Plan" id="{7b595d00-23ad-2789-c7cd-fd7a4766fcaf}">
          <p14:sldIdLst>
            <p14:sldId id="260"/>
          </p14:sldIdLst>
        </p14:section>
        <p14:section name="Outcome" id="{25cc9135-f89e-03e5-c56d-7a6b52eea537}">
          <p14:sldIdLst>
            <p14:sldId id="261"/>
          </p14:sldIdLst>
        </p14:section>
        <p14:section name="Ask" id="{54d74e70-fadb-56c9-694f-c5aba1a05de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(0:00–0:12)
A real Ownly review: “It showed that the order is delivered, and gave me a random number.” I read 1,481 reviews across Ownly’s three apps to find out why.
Delivery: Read the quote slowly. Pause after “random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(0:12–0:24)
One in three negative reviews says the same thing: I paid and got nothing. Cancelled after payment, no captain, or marked delivered without a handover. Those reviews average one star.
Delivery: Stress “paid and got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(0:24–0:34)
Price isn’t the problem. Of happy reviews that give a reason, forty-three percent praise the price. But with zero commission, one failed order wipes out the margin of many good ones.
Delivery: Warm tone: this is a compliment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(0:34–0:46)
Your restaurant and captain apps tell the same story: alerts that don’t ring, captains waiting for orders while customers wait for captains. Nothing has to prove a handoff happened.
Delivery: This is the line they won’t have heard.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(0:46–0:58)
So first, I’d spend two weeks measuring the real failure rate. If it’s big enough: a four-digit delivery code at handover, plus automatic refunds when an order fails.
Delivery: “Measure first” signals judgement.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(0:58–1:06)
Then a four-week pilot, judged on one number: fewer “I never got my order” claims, without captains turning away food orders.
Delivery: Point at the −40%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(1:06–1:19)
It’s built on public data only, and the full case study is attached. I’d love to build this with you as an APM at Ownly. Can we talk for fifteen minutes?
Delivery: Look into the camera for the ask. Smile.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640080" y="6355080"/>
            <a:ext cx="9144000" cy="274320"/>
          </a:xfrm>
          <a:prstGeom prst="rect">
            <a:avLst/>
          </a:prstGeom>
          <a:noFill/>
          <a:ln/>
        </p:spPr>
        <p:txBody>
          <a:bodyPr wrap="square" lIns="0" tIns="0" rIns="0" bIns="0" rtlCol="0" anchor="ctr"/>
          <a:lstStyle/>
          <a:p>
            <a:pPr indent="0" marL="0">
              <a:buNone/>
            </a:pPr>
            <a:r>
              <a:rPr lang="en-US" sz="1000" dirty="0">
                <a:solidFill>
                  <a:schemeClr val="accent5"/>
                </a:solidFill>
              </a:rPr>
              <a:t>Mahesh Kontham · independent analysis of public data (Play Store reviews, Semrush, press)</a:t>
            </a:r>
            <a:endParaRPr lang="en-US" sz="10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640080" y="6355080"/>
            <a:ext cx="9144000" cy="274320"/>
          </a:xfrm>
          <a:prstGeom prst="rect">
            <a:avLst/>
          </a:prstGeom>
          <a:noFill/>
          <a:ln/>
        </p:spPr>
        <p:txBody>
          <a:bodyPr wrap="square" lIns="0" tIns="0" rIns="0" bIns="0" rtlCol="0" anchor="ctr"/>
          <a:lstStyle/>
          <a:p>
            <a:pPr indent="0" marL="0">
              <a:buNone/>
            </a:pPr>
            <a:r>
              <a:rPr lang="en-US" sz="1000" dirty="0">
                <a:solidFill>
                  <a:schemeClr val="tx2"/>
                </a:solidFill>
              </a:rPr>
              <a:t>Mahesh Kontham · independent analysis of public data (Play Store reviews, Semrush, press)</a:t>
            </a:r>
            <a:endParaRPr lang="en-US" sz="10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OWNLY  ·  INDEPENDENT PRODUCT CASE STUDY</a:t>
            </a:r>
            <a:endParaRPr lang="en-US" sz="1400" dirty="0"/>
          </a:p>
        </p:txBody>
      </p:sp>
      <p:sp>
        <p:nvSpPr>
          <p:cNvPr id="3" name="Text 1"/>
          <p:cNvSpPr txBox="1"/>
          <p:nvPr/>
        </p:nvSpPr>
        <p:spPr>
          <a:xfrm>
            <a:off x="502920" y="960120"/>
            <a:ext cx="1097280" cy="1188720"/>
          </a:xfrm>
          <a:prstGeom prst="rect">
            <a:avLst/>
          </a:prstGeom>
          <a:noFill/>
          <a:ln/>
        </p:spPr>
        <p:txBody>
          <a:bodyPr wrap="square" lIns="0" tIns="0" rIns="0" bIns="0" rtlCol="0" anchor="ctr"/>
          <a:lstStyle/>
          <a:p>
            <a:pPr indent="0" marL="0">
              <a:buNone/>
            </a:pPr>
            <a:r>
              <a:rPr lang="en-US" sz="12000" b="1" dirty="0">
                <a:solidFill>
                  <a:schemeClr val="accent1"/>
                </a:solidFill>
                <a:latin typeface="Calibri" pitchFamily="34" charset="0"/>
                <a:ea typeface="Calibri" pitchFamily="34" charset="-122"/>
                <a:cs typeface="Calibri" pitchFamily="34" charset="-120"/>
              </a:rPr>
              <a:t>“</a:t>
            </a:r>
            <a:endParaRPr lang="en-US" sz="12000" dirty="0"/>
          </a:p>
        </p:txBody>
      </p:sp>
      <p:sp>
        <p:nvSpPr>
          <p:cNvPr id="4" name="Text 2"/>
          <p:cNvSpPr txBox="1"/>
          <p:nvPr/>
        </p:nvSpPr>
        <p:spPr>
          <a:xfrm>
            <a:off x="1463040" y="1417320"/>
            <a:ext cx="9692640" cy="1828800"/>
          </a:xfrm>
          <a:prstGeom prst="rect">
            <a:avLst/>
          </a:prstGeom>
          <a:noFill/>
          <a:ln/>
        </p:spPr>
        <p:txBody>
          <a:bodyPr wrap="square" lIns="0" tIns="0" rIns="0" bIns="0" rtlCol="0" anchor="t"/>
          <a:lstStyle/>
          <a:p>
            <a:pPr indent="0" marL="0">
              <a:buNone/>
            </a:pPr>
            <a:r>
              <a:rPr lang="en-US" sz="4000" b="1" dirty="0">
                <a:solidFill>
                  <a:schemeClr val="bg1"/>
                </a:solidFill>
                <a:latin typeface="Calibri" pitchFamily="34" charset="0"/>
                <a:ea typeface="Calibri" pitchFamily="34" charset="-122"/>
                <a:cs typeface="Calibri" pitchFamily="34" charset="-120"/>
              </a:rPr>
              <a:t>…it showed that the order is delivered and gave me a random number.</a:t>
            </a:r>
            <a:endParaRPr lang="en-US" sz="4000" dirty="0"/>
          </a:p>
        </p:txBody>
      </p:sp>
      <p:sp>
        <p:nvSpPr>
          <p:cNvPr id="5" name="Text 3"/>
          <p:cNvSpPr txBox="1"/>
          <p:nvPr/>
        </p:nvSpPr>
        <p:spPr>
          <a:xfrm>
            <a:off x="1463040" y="3337560"/>
            <a:ext cx="7315200" cy="365760"/>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Ownly customer · Play Store review · 1★</a:t>
            </a:r>
            <a:endParaRPr lang="en-US" sz="1600" dirty="0"/>
          </a:p>
        </p:txBody>
      </p:sp>
      <p:sp>
        <p:nvSpPr>
          <p:cNvPr id="6" name="summary band"/>
          <p:cNvSpPr/>
          <p:nvPr/>
        </p:nvSpPr>
        <p:spPr>
          <a:xfrm>
            <a:off x="640080" y="4206240"/>
            <a:ext cx="10881360" cy="1600200"/>
          </a:xfrm>
          <a:prstGeom prst="roundRect">
            <a:avLst>
              <a:gd name="adj" fmla="val 6857"/>
            </a:avLst>
          </a:prstGeom>
          <a:solidFill>
            <a:srgbClr val="1E2E52"/>
          </a:solidFill>
          <a:ln w="12700">
            <a:solidFill>
              <a:srgbClr val="1E2E52"/>
            </a:solidFill>
            <a:prstDash val="solid"/>
          </a:ln>
        </p:spPr>
      </p:sp>
      <p:sp>
        <p:nvSpPr>
          <p:cNvPr id="7" name="Text 5"/>
          <p:cNvSpPr txBox="1"/>
          <p:nvPr/>
        </p:nvSpPr>
        <p:spPr>
          <a:xfrm>
            <a:off x="914400" y="4434840"/>
            <a:ext cx="10332720" cy="1188720"/>
          </a:xfrm>
          <a:prstGeom prst="rect">
            <a:avLst/>
          </a:prstGeom>
          <a:noFill/>
          <a:ln/>
        </p:spPr>
        <p:txBody>
          <a:bodyPr wrap="square" lIns="0" tIns="0" rIns="0" bIns="0" rtlCol="0" anchor="ctr"/>
          <a:lstStyle/>
          <a:p>
            <a:pPr indent="0" marL="0">
              <a:spcAft>
                <a:spcPts val="600"/>
              </a:spcAft>
              <a:buNone/>
            </a:pPr>
            <a:r>
              <a:rPr lang="en-US" sz="2400" b="1" dirty="0">
                <a:solidFill>
                  <a:schemeClr val="bg1"/>
                </a:solidFill>
                <a:latin typeface="Calibri" pitchFamily="34" charset="0"/>
                <a:ea typeface="Calibri" pitchFamily="34" charset="-122"/>
                <a:cs typeface="Calibri" pitchFamily="34" charset="-120"/>
              </a:rPr>
              <a:t>What 1,481 reviews of Ownly's three apps say, and what I'd do first</a:t>
            </a:r>
            <a:endParaRPr lang="en-US" sz="2400" dirty="0"/>
          </a:p>
          <a:p>
            <a:pPr indent="0" marL="0">
              <a:spcAft>
                <a:spcPts val="600"/>
              </a:spcAft>
              <a:buNone/>
            </a:pPr>
            <a:r>
              <a:rPr lang="en-US" sz="1600" dirty="0">
                <a:solidFill>
                  <a:srgbClr val="AEB6C5"/>
                </a:solidFill>
                <a:latin typeface="Calibri" pitchFamily="34" charset="0"/>
                <a:ea typeface="Calibri" pitchFamily="34" charset="-122"/>
                <a:cs typeface="Calibri" pitchFamily="34" charset="-120"/>
              </a:rPr>
              <a:t>Mahesh Kontham  ·  APM candidate</a:t>
            </a:r>
            <a:endParaRPr lang="en-US" sz="2400" dirty="0"/>
          </a:p>
        </p:txBody>
      </p:sp>
      <p:sp>
        <p:nvSpPr>
          <p:cNvPr id="9"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tx1"/>
                </a:solidFill>
              </a:rPr>
              <a:t>1 in 3 unhappy customers paid and got nothing</a:t>
            </a:r>
            <a:endParaRPr lang="en-US" sz="3600" dirty="0"/>
          </a:p>
        </p:txBody>
      </p:sp>
      <p:sp>
        <p:nvSpPr>
          <p:cNvPr id="3" name="Text 1"/>
          <p:cNvSpPr txBox="1"/>
          <p:nvPr/>
        </p:nvSpPr>
        <p:spPr>
          <a:xfrm>
            <a:off x="640080" y="1600200"/>
            <a:ext cx="3840480" cy="1188720"/>
          </a:xfrm>
          <a:prstGeom prst="rect">
            <a:avLst/>
          </a:prstGeom>
          <a:noFill/>
          <a:ln/>
        </p:spPr>
        <p:txBody>
          <a:bodyPr wrap="square" lIns="0" tIns="0" rIns="0" bIns="0" rtlCol="0" anchor="ctr"/>
          <a:lstStyle/>
          <a:p>
            <a:pPr indent="0" marL="0">
              <a:buNone/>
            </a:pPr>
            <a:r>
              <a:rPr lang="en-US" sz="8000" b="1" dirty="0">
                <a:solidFill>
                  <a:schemeClr val="accent1"/>
                </a:solidFill>
                <a:latin typeface="Calibri" pitchFamily="34" charset="0"/>
                <a:ea typeface="Calibri" pitchFamily="34" charset="-122"/>
                <a:cs typeface="Calibri" pitchFamily="34" charset="-120"/>
              </a:rPr>
              <a:t>31.6%</a:t>
            </a:r>
            <a:endParaRPr lang="en-US" sz="8000" dirty="0"/>
          </a:p>
        </p:txBody>
      </p:sp>
      <p:sp>
        <p:nvSpPr>
          <p:cNvPr id="4" name="Text 2"/>
          <p:cNvSpPr txBox="1"/>
          <p:nvPr/>
        </p:nvSpPr>
        <p:spPr>
          <a:xfrm>
            <a:off x="640080" y="2834640"/>
            <a:ext cx="3749040" cy="91440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of 493 negative (1–2★) customer reviews describe a paid order with no food</a:t>
            </a:r>
            <a:endParaRPr lang="en-US" sz="1800" dirty="0"/>
          </a:p>
        </p:txBody>
      </p:sp>
      <p:sp>
        <p:nvSpPr>
          <p:cNvPr id="5" name="Text 3"/>
          <p:cNvSpPr txBox="1"/>
          <p:nvPr/>
        </p:nvSpPr>
        <p:spPr>
          <a:xfrm>
            <a:off x="640080" y="3886200"/>
            <a:ext cx="374904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Average rating when it happens: 1.05★</a:t>
            </a:r>
            <a:endParaRPr lang="en-US" sz="1800" dirty="0"/>
          </a:p>
        </p:txBody>
      </p:sp>
      <p:sp>
        <p:nvSpPr>
          <p:cNvPr id="6" name="failure card 1"/>
          <p:cNvSpPr/>
          <p:nvPr/>
        </p:nvSpPr>
        <p:spPr>
          <a:xfrm>
            <a:off x="4846320" y="1600200"/>
            <a:ext cx="6675120" cy="1280160"/>
          </a:xfrm>
          <a:prstGeom prst="roundRect">
            <a:avLst>
              <a:gd name="adj" fmla="val 8571"/>
            </a:avLst>
          </a:prstGeom>
          <a:solidFill>
            <a:srgbClr val="FDECE6"/>
          </a:solidFill>
          <a:ln w="12700">
            <a:solidFill>
              <a:srgbClr val="FDECE6"/>
            </a:solidFill>
            <a:prstDash val="solid"/>
          </a:ln>
        </p:spPr>
      </p:sp>
      <p:sp>
        <p:nvSpPr>
          <p:cNvPr id="7" name="Text 5"/>
          <p:cNvSpPr txBox="1"/>
          <p:nvPr/>
        </p:nvSpPr>
        <p:spPr>
          <a:xfrm>
            <a:off x="5120640" y="1709928"/>
            <a:ext cx="6217920" cy="1060704"/>
          </a:xfrm>
          <a:prstGeom prst="rect">
            <a:avLst/>
          </a:prstGeom>
          <a:noFill/>
          <a:ln/>
        </p:spPr>
        <p:txBody>
          <a:bodyPr wrap="square" lIns="0" tIns="0" rIns="0" bIns="0" rtlCol="0" anchor="ctr"/>
          <a:lstStyle/>
          <a:p>
            <a:pPr indent="0" marL="0">
              <a:spcAft>
                <a:spcPts val="200"/>
              </a:spcAft>
              <a:buNone/>
            </a:pPr>
            <a:r>
              <a:rPr lang="en-US" sz="2000" b="1" dirty="0">
                <a:solidFill>
                  <a:schemeClr val="tx1"/>
                </a:solidFill>
                <a:latin typeface="Calibri" pitchFamily="34" charset="0"/>
                <a:ea typeface="Calibri" pitchFamily="34" charset="-122"/>
                <a:cs typeface="Calibri" pitchFamily="34" charset="-120"/>
              </a:rPr>
              <a:t>Cancelled after payment</a:t>
            </a:r>
            <a:endParaRPr lang="en-US" sz="2000" dirty="0"/>
          </a:p>
          <a:p>
            <a:pPr indent="0" marL="0">
              <a:spcAft>
                <a:spcPts val="200"/>
              </a:spcAft>
              <a:buNone/>
            </a:pPr>
            <a:r>
              <a:rPr lang="en-US" sz="1400" b="1" dirty="0">
                <a:solidFill>
                  <a:schemeClr val="accent1"/>
                </a:solidFill>
                <a:latin typeface="Calibri" pitchFamily="34" charset="0"/>
                <a:ea typeface="Calibri" pitchFamily="34" charset="-122"/>
                <a:cs typeface="Calibri" pitchFamily="34" charset="-120"/>
              </a:rPr>
              <a:t>61 reviews · avg 1.00★</a:t>
            </a:r>
            <a:endParaRPr lang="en-US" sz="2000" dirty="0"/>
          </a:p>
          <a:p>
            <a:pPr indent="0" marL="0">
              <a:spcAft>
                <a:spcPts val="200"/>
              </a:spcAft>
              <a:buNone/>
            </a:pPr>
            <a:r>
              <a:rPr lang="en-US" sz="1400" i="1" dirty="0">
                <a:solidFill>
                  <a:schemeClr val="tx2"/>
                </a:solidFill>
                <a:latin typeface="Calibri" pitchFamily="34" charset="0"/>
                <a:ea typeface="Calibri" pitchFamily="34" charset="-122"/>
                <a:cs typeface="Calibri" pitchFamily="34" charset="-120"/>
              </a:rPr>
              <a:t>“deducted the amount. After 1hour… they are asking me to cancel”</a:t>
            </a:r>
            <a:endParaRPr lang="en-US" sz="2000" dirty="0"/>
          </a:p>
        </p:txBody>
      </p:sp>
      <p:sp>
        <p:nvSpPr>
          <p:cNvPr id="8" name="failure card 2"/>
          <p:cNvSpPr/>
          <p:nvPr/>
        </p:nvSpPr>
        <p:spPr>
          <a:xfrm>
            <a:off x="4846320" y="3063240"/>
            <a:ext cx="6675120" cy="1280160"/>
          </a:xfrm>
          <a:prstGeom prst="roundRect">
            <a:avLst>
              <a:gd name="adj" fmla="val 8571"/>
            </a:avLst>
          </a:prstGeom>
          <a:solidFill>
            <a:srgbClr val="FDECE6"/>
          </a:solidFill>
          <a:ln w="12700">
            <a:solidFill>
              <a:srgbClr val="FDECE6"/>
            </a:solidFill>
            <a:prstDash val="solid"/>
          </a:ln>
        </p:spPr>
      </p:sp>
      <p:sp>
        <p:nvSpPr>
          <p:cNvPr id="9" name="Text 7"/>
          <p:cNvSpPr txBox="1"/>
          <p:nvPr/>
        </p:nvSpPr>
        <p:spPr>
          <a:xfrm>
            <a:off x="5120640" y="3172968"/>
            <a:ext cx="6217920" cy="1060704"/>
          </a:xfrm>
          <a:prstGeom prst="rect">
            <a:avLst/>
          </a:prstGeom>
          <a:noFill/>
          <a:ln/>
        </p:spPr>
        <p:txBody>
          <a:bodyPr wrap="square" lIns="0" tIns="0" rIns="0" bIns="0" rtlCol="0" anchor="ctr"/>
          <a:lstStyle/>
          <a:p>
            <a:pPr indent="0" marL="0">
              <a:spcAft>
                <a:spcPts val="200"/>
              </a:spcAft>
              <a:buNone/>
            </a:pPr>
            <a:r>
              <a:rPr lang="en-US" sz="2000" b="1" dirty="0">
                <a:solidFill>
                  <a:schemeClr val="tx1"/>
                </a:solidFill>
                <a:latin typeface="Calibri" pitchFamily="34" charset="0"/>
                <a:ea typeface="Calibri" pitchFamily="34" charset="-122"/>
                <a:cs typeface="Calibri" pitchFamily="34" charset="-120"/>
              </a:rPr>
              <a:t>No captain came</a:t>
            </a:r>
            <a:endParaRPr lang="en-US" sz="2000" dirty="0"/>
          </a:p>
          <a:p>
            <a:pPr indent="0" marL="0">
              <a:spcAft>
                <a:spcPts val="200"/>
              </a:spcAft>
              <a:buNone/>
            </a:pPr>
            <a:r>
              <a:rPr lang="en-US" sz="1400" b="1" dirty="0">
                <a:solidFill>
                  <a:schemeClr val="accent1"/>
                </a:solidFill>
                <a:latin typeface="Calibri" pitchFamily="34" charset="0"/>
                <a:ea typeface="Calibri" pitchFamily="34" charset="-122"/>
                <a:cs typeface="Calibri" pitchFamily="34" charset="-120"/>
              </a:rPr>
              <a:t>‘rider’ theme in 23% of negatives</a:t>
            </a:r>
            <a:endParaRPr lang="en-US" sz="2000" dirty="0"/>
          </a:p>
          <a:p>
            <a:pPr indent="0" marL="0">
              <a:spcAft>
                <a:spcPts val="200"/>
              </a:spcAft>
              <a:buNone/>
            </a:pPr>
            <a:r>
              <a:rPr lang="en-US" sz="1400" i="1" dirty="0">
                <a:solidFill>
                  <a:schemeClr val="tx2"/>
                </a:solidFill>
                <a:latin typeface="Calibri" pitchFamily="34" charset="0"/>
                <a:ea typeface="Calibri" pitchFamily="34" charset="-122"/>
                <a:cs typeface="Calibri" pitchFamily="34" charset="-120"/>
              </a:rPr>
              <a:t>“no rider was assigned even after waiting”</a:t>
            </a:r>
            <a:endParaRPr lang="en-US" sz="2000" dirty="0"/>
          </a:p>
        </p:txBody>
      </p:sp>
      <p:sp>
        <p:nvSpPr>
          <p:cNvPr id="10" name="failure card 3"/>
          <p:cNvSpPr/>
          <p:nvPr/>
        </p:nvSpPr>
        <p:spPr>
          <a:xfrm>
            <a:off x="4846320" y="4526280"/>
            <a:ext cx="6675120" cy="1280160"/>
          </a:xfrm>
          <a:prstGeom prst="roundRect">
            <a:avLst>
              <a:gd name="adj" fmla="val 8571"/>
            </a:avLst>
          </a:prstGeom>
          <a:solidFill>
            <a:srgbClr val="FDECE6"/>
          </a:solidFill>
          <a:ln w="12700">
            <a:solidFill>
              <a:srgbClr val="FDECE6"/>
            </a:solidFill>
            <a:prstDash val="solid"/>
          </a:ln>
        </p:spPr>
      </p:sp>
      <p:sp>
        <p:nvSpPr>
          <p:cNvPr id="11" name="Text 9"/>
          <p:cNvSpPr txBox="1"/>
          <p:nvPr/>
        </p:nvSpPr>
        <p:spPr>
          <a:xfrm>
            <a:off x="5120640" y="4636008"/>
            <a:ext cx="6217920" cy="1060704"/>
          </a:xfrm>
          <a:prstGeom prst="rect">
            <a:avLst/>
          </a:prstGeom>
          <a:noFill/>
          <a:ln/>
        </p:spPr>
        <p:txBody>
          <a:bodyPr wrap="square" lIns="0" tIns="0" rIns="0" bIns="0" rtlCol="0" anchor="ctr"/>
          <a:lstStyle/>
          <a:p>
            <a:pPr indent="0" marL="0">
              <a:spcAft>
                <a:spcPts val="200"/>
              </a:spcAft>
              <a:buNone/>
            </a:pPr>
            <a:r>
              <a:rPr lang="en-US" sz="2000" b="1" dirty="0">
                <a:solidFill>
                  <a:schemeClr val="tx1"/>
                </a:solidFill>
                <a:latin typeface="Calibri" pitchFamily="34" charset="0"/>
                <a:ea typeface="Calibri" pitchFamily="34" charset="-122"/>
                <a:cs typeface="Calibri" pitchFamily="34" charset="-120"/>
              </a:rPr>
              <a:t>Marked ‘Delivered’, no food</a:t>
            </a:r>
            <a:endParaRPr lang="en-US" sz="2000" dirty="0"/>
          </a:p>
          <a:p>
            <a:pPr indent="0" marL="0">
              <a:spcAft>
                <a:spcPts val="200"/>
              </a:spcAft>
              <a:buNone/>
            </a:pPr>
            <a:r>
              <a:rPr lang="en-US" sz="1400" b="1" dirty="0">
                <a:solidFill>
                  <a:schemeClr val="accent1"/>
                </a:solidFill>
                <a:latin typeface="Calibri" pitchFamily="34" charset="0"/>
                <a:ea typeface="Calibri" pitchFamily="34" charset="-122"/>
                <a:cs typeface="Calibri" pitchFamily="34" charset="-120"/>
              </a:rPr>
              <a:t>104 reviews · avg 1.07★</a:t>
            </a:r>
            <a:endParaRPr lang="en-US" sz="2000" dirty="0"/>
          </a:p>
          <a:p>
            <a:pPr indent="0" marL="0">
              <a:spcAft>
                <a:spcPts val="200"/>
              </a:spcAft>
              <a:buNone/>
            </a:pPr>
            <a:r>
              <a:rPr lang="en-US" sz="1400" i="1" dirty="0">
                <a:solidFill>
                  <a:schemeClr val="tx2"/>
                </a:solidFill>
                <a:latin typeface="Calibri" pitchFamily="34" charset="0"/>
                <a:ea typeface="Calibri" pitchFamily="34" charset="-122"/>
                <a:cs typeface="Calibri" pitchFamily="34" charset="-120"/>
              </a:rPr>
              <a:t>“I didn't get my order. but it is showing delivered”</a:t>
            </a:r>
            <a:endParaRPr lang="en-US" sz="2000" dirty="0"/>
          </a:p>
        </p:txBody>
      </p:sp>
      <p:sp>
        <p:nvSpPr>
          <p:cNvPr id="12" name="Text 10"/>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100" dirty="0">
                <a:solidFill>
                  <a:schemeClr val="tx2"/>
                </a:solidFill>
                <a:latin typeface="Calibri" pitchFamily="34" charset="0"/>
                <a:ea typeface="Calibri" pitchFamily="34" charset="-122"/>
                <a:cs typeface="Calibri" pitchFamily="34" charset="-120"/>
              </a:rPr>
              <a:t>Source: 1,000 Google Play reviews of the Ownly customer app, 27 Sep–4 Oct 2026. Shares are of reviews, not of orders.</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tx1"/>
                </a:solidFill>
              </a:rPr>
              <a:t>Price is winning. One failed order undoes it</a:t>
            </a:r>
            <a:endParaRPr lang="en-US" sz="3600" dirty="0"/>
          </a:p>
        </p:txBody>
      </p:sp>
      <p:sp>
        <p:nvSpPr>
          <p:cNvPr id="3" name="price card"/>
          <p:cNvSpPr/>
          <p:nvPr/>
        </p:nvSpPr>
        <p:spPr>
          <a:xfrm>
            <a:off x="640080" y="1600200"/>
            <a:ext cx="5257800" cy="4160520"/>
          </a:xfrm>
          <a:prstGeom prst="roundRect">
            <a:avLst>
              <a:gd name="adj" fmla="val 2637"/>
            </a:avLst>
          </a:prstGeom>
          <a:solidFill>
            <a:srgbClr val="E4F4ED"/>
          </a:solidFill>
          <a:ln w="12700">
            <a:solidFill>
              <a:srgbClr val="E4F4ED"/>
            </a:solidFill>
            <a:prstDash val="solid"/>
          </a:ln>
        </p:spPr>
      </p:sp>
      <p:sp>
        <p:nvSpPr>
          <p:cNvPr id="4" name="Text 2"/>
          <p:cNvSpPr txBox="1"/>
          <p:nvPr/>
        </p:nvSpPr>
        <p:spPr>
          <a:xfrm>
            <a:off x="960120" y="1828800"/>
            <a:ext cx="4572000" cy="320040"/>
          </a:xfrm>
          <a:prstGeom prst="rect">
            <a:avLst/>
          </a:prstGeom>
          <a:noFill/>
          <a:ln/>
        </p:spPr>
        <p:txBody>
          <a:bodyPr wrap="square" lIns="0" tIns="0" rIns="0" bIns="0" rtlCol="0" anchor="ctr"/>
          <a:lstStyle/>
          <a:p>
            <a:pPr indent="0" marL="0">
              <a:buNone/>
            </a:pPr>
            <a:r>
              <a:rPr lang="en-US" sz="1400" b="1" spc="200" kern="0" dirty="0">
                <a:solidFill>
                  <a:schemeClr val="accent2"/>
                </a:solidFill>
                <a:latin typeface="Calibri" pitchFamily="34" charset="0"/>
                <a:ea typeface="Calibri" pitchFamily="34" charset="-122"/>
                <a:cs typeface="Calibri" pitchFamily="34" charset="-120"/>
              </a:rPr>
              <a:t>WHAT'S WORKING</a:t>
            </a:r>
            <a:endParaRPr lang="en-US" sz="1400" dirty="0"/>
          </a:p>
        </p:txBody>
      </p:sp>
      <p:sp>
        <p:nvSpPr>
          <p:cNvPr id="5" name="Text 3"/>
          <p:cNvSpPr txBox="1"/>
          <p:nvPr/>
        </p:nvSpPr>
        <p:spPr>
          <a:xfrm>
            <a:off x="960120" y="2194560"/>
            <a:ext cx="4572000" cy="1097280"/>
          </a:xfrm>
          <a:prstGeom prst="rect">
            <a:avLst/>
          </a:prstGeom>
          <a:noFill/>
          <a:ln/>
        </p:spPr>
        <p:txBody>
          <a:bodyPr wrap="square" lIns="0" tIns="0" rIns="0" bIns="0" rtlCol="0" anchor="ctr"/>
          <a:lstStyle/>
          <a:p>
            <a:pPr indent="0" marL="0">
              <a:buNone/>
            </a:pPr>
            <a:r>
              <a:rPr lang="en-US" sz="7200" b="1" dirty="0">
                <a:solidFill>
                  <a:schemeClr val="accent2"/>
                </a:solidFill>
                <a:latin typeface="Calibri" pitchFamily="34" charset="0"/>
                <a:ea typeface="Calibri" pitchFamily="34" charset="-122"/>
                <a:cs typeface="Calibri" pitchFamily="34" charset="-120"/>
              </a:rPr>
              <a:t>43%</a:t>
            </a:r>
            <a:endParaRPr lang="en-US" sz="7200" dirty="0"/>
          </a:p>
        </p:txBody>
      </p:sp>
      <p:sp>
        <p:nvSpPr>
          <p:cNvPr id="6" name="Text 4"/>
          <p:cNvSpPr txBox="1"/>
          <p:nvPr/>
        </p:nvSpPr>
        <p:spPr>
          <a:xfrm>
            <a:off x="960120" y="3337560"/>
            <a:ext cx="4663440" cy="91440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of 4–5★ reviews that give a reason praise the price, no platform fee or no hidden charges</a:t>
            </a:r>
            <a:endParaRPr lang="en-US" sz="1800" dirty="0"/>
          </a:p>
        </p:txBody>
      </p:sp>
      <p:sp>
        <p:nvSpPr>
          <p:cNvPr id="7" name="Text 5"/>
          <p:cNvSpPr txBox="1"/>
          <p:nvPr/>
        </p:nvSpPr>
        <p:spPr>
          <a:xfrm>
            <a:off x="960120" y="4480560"/>
            <a:ext cx="466344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Even 42 angry 1–2★ reviewers still praise the price</a:t>
            </a:r>
            <a:endParaRPr lang="en-US" sz="1800" dirty="0"/>
          </a:p>
        </p:txBody>
      </p:sp>
      <p:sp>
        <p:nvSpPr>
          <p:cNvPr id="8" name="risk card"/>
          <p:cNvSpPr/>
          <p:nvPr/>
        </p:nvSpPr>
        <p:spPr>
          <a:xfrm>
            <a:off x="6263640" y="1600200"/>
            <a:ext cx="5257800" cy="4160520"/>
          </a:xfrm>
          <a:prstGeom prst="roundRect">
            <a:avLst>
              <a:gd name="adj" fmla="val 2637"/>
            </a:avLst>
          </a:prstGeom>
          <a:solidFill>
            <a:srgbClr val="FDECE6"/>
          </a:solidFill>
          <a:ln w="12700">
            <a:solidFill>
              <a:srgbClr val="FDECE6"/>
            </a:solidFill>
            <a:prstDash val="solid"/>
          </a:ln>
        </p:spPr>
      </p:sp>
      <p:sp>
        <p:nvSpPr>
          <p:cNvPr id="9" name="Text 7"/>
          <p:cNvSpPr txBox="1"/>
          <p:nvPr/>
        </p:nvSpPr>
        <p:spPr>
          <a:xfrm>
            <a:off x="6583680" y="1828800"/>
            <a:ext cx="457200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WHAT BREAKS IT</a:t>
            </a:r>
            <a:endParaRPr lang="en-US" sz="1400" dirty="0"/>
          </a:p>
        </p:txBody>
      </p:sp>
      <p:sp>
        <p:nvSpPr>
          <p:cNvPr id="10" name="Text 8"/>
          <p:cNvSpPr txBox="1"/>
          <p:nvPr/>
        </p:nvSpPr>
        <p:spPr>
          <a:xfrm>
            <a:off x="6583680" y="2240280"/>
            <a:ext cx="466344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Thin margin</a:t>
            </a:r>
            <a:endParaRPr lang="en-US" sz="1800" dirty="0"/>
          </a:p>
          <a:p>
            <a:pPr indent="0" marL="0">
              <a:buNone/>
            </a:pPr>
            <a:r>
              <a:rPr lang="en-US" sz="1400" dirty="0">
                <a:solidFill>
                  <a:schemeClr val="tx2"/>
                </a:solidFill>
                <a:latin typeface="Calibri" pitchFamily="34" charset="0"/>
                <a:ea typeface="Calibri" pitchFamily="34" charset="-122"/>
                <a:cs typeface="Calibri" pitchFamily="34" charset="-120"/>
              </a:rPr>
              <a:t>With zero commission*, a refund, support time and a wasted captain trip can wipe out the margin of many good orders</a:t>
            </a:r>
            <a:endParaRPr lang="en-US" sz="1800" dirty="0"/>
          </a:p>
        </p:txBody>
      </p:sp>
      <p:sp>
        <p:nvSpPr>
          <p:cNvPr id="11" name="Text 9"/>
          <p:cNvSpPr txBox="1"/>
          <p:nvPr/>
        </p:nvSpPr>
        <p:spPr>
          <a:xfrm>
            <a:off x="6583680" y="3337560"/>
            <a:ext cx="466344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First orders at stake</a:t>
            </a:r>
            <a:endParaRPr lang="en-US" sz="1800" dirty="0"/>
          </a:p>
          <a:p>
            <a:pPr indent="0" marL="0">
              <a:buNone/>
            </a:pPr>
            <a:r>
              <a:rPr lang="en-US" sz="1400" dirty="0">
                <a:solidFill>
                  <a:schemeClr val="tx2"/>
                </a:solidFill>
                <a:latin typeface="Calibri" pitchFamily="34" charset="0"/>
                <a:ea typeface="Calibri" pitchFamily="34" charset="-122"/>
                <a:cs typeface="Calibri" pitchFamily="34" charset="-120"/>
              </a:rPr>
              <a:t>Since July 2026* Rapido's app sends new users to Ownly, so a failed first order wastes that distribution</a:t>
            </a:r>
            <a:endParaRPr lang="en-US" sz="1800" dirty="0"/>
          </a:p>
        </p:txBody>
      </p:sp>
      <p:sp>
        <p:nvSpPr>
          <p:cNvPr id="12" name="Text 10"/>
          <p:cNvSpPr txBox="1"/>
          <p:nvPr/>
        </p:nvSpPr>
        <p:spPr>
          <a:xfrm>
            <a:off x="6583680" y="4434840"/>
            <a:ext cx="466344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Public damage</a:t>
            </a:r>
            <a:endParaRPr lang="en-US" sz="1800" dirty="0"/>
          </a:p>
          <a:p>
            <a:pPr indent="0" marL="0">
              <a:buNone/>
            </a:pPr>
            <a:r>
              <a:rPr lang="en-US" sz="1400" dirty="0">
                <a:solidFill>
                  <a:schemeClr val="tx2"/>
                </a:solidFill>
                <a:latin typeface="Calibri" pitchFamily="34" charset="0"/>
                <a:ea typeface="Calibri" pitchFamily="34" charset="-122"/>
                <a:cs typeface="Calibri" pitchFamily="34" charset="-120"/>
              </a:rPr>
              <a:t>74 negative reviews use ‘fraud’ or ‘scam’ words after losing money</a:t>
            </a:r>
            <a:endParaRPr lang="en-US" sz="1800" dirty="0"/>
          </a:p>
        </p:txBody>
      </p:sp>
      <p:sp>
        <p:nvSpPr>
          <p:cNvPr id="13" name="Text 11"/>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100" dirty="0">
                <a:solidFill>
                  <a:schemeClr val="tx2"/>
                </a:solidFill>
                <a:latin typeface="Calibri" pitchFamily="34" charset="0"/>
                <a:ea typeface="Calibri" pitchFamily="34" charset="-122"/>
                <a:cs typeface="Calibri" pitchFamily="34" charset="-120"/>
              </a:rPr>
              <a:t>*Press-reported, not verified by me. Review figures: Ownly customer app, 27 Sep–4 Oct 2026.</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bg1"/>
                </a:solidFill>
              </a:rPr>
              <a:t>Three apps, one story: the handoffs break</a:t>
            </a:r>
            <a:endParaRPr lang="en-US" sz="3600" dirty="0"/>
          </a:p>
        </p:txBody>
      </p:sp>
      <p:sp>
        <p:nvSpPr>
          <p:cNvPr id="3" name="side 1"/>
          <p:cNvSpPr/>
          <p:nvPr/>
        </p:nvSpPr>
        <p:spPr>
          <a:xfrm>
            <a:off x="640080" y="1600200"/>
            <a:ext cx="3474720" cy="2514600"/>
          </a:xfrm>
          <a:prstGeom prst="roundRect">
            <a:avLst>
              <a:gd name="adj" fmla="val 4364"/>
            </a:avLst>
          </a:prstGeom>
          <a:solidFill>
            <a:srgbClr val="1E2E52"/>
          </a:solidFill>
          <a:ln w="12700">
            <a:solidFill>
              <a:srgbClr val="1E2E52"/>
            </a:solidFill>
            <a:prstDash val="solid"/>
          </a:ln>
        </p:spPr>
      </p:sp>
      <p:sp>
        <p:nvSpPr>
          <p:cNvPr id="4" name="Text 2"/>
          <p:cNvSpPr txBox="1"/>
          <p:nvPr/>
        </p:nvSpPr>
        <p:spPr>
          <a:xfrm>
            <a:off x="914400" y="1828800"/>
            <a:ext cx="292608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CUSTOMER APP</a:t>
            </a:r>
            <a:endParaRPr lang="en-US" sz="1400" dirty="0"/>
          </a:p>
        </p:txBody>
      </p:sp>
      <p:sp>
        <p:nvSpPr>
          <p:cNvPr id="5" name="Text 3"/>
          <p:cNvSpPr txBox="1"/>
          <p:nvPr/>
        </p:nvSpPr>
        <p:spPr>
          <a:xfrm>
            <a:off x="914400" y="2148840"/>
            <a:ext cx="2926080" cy="274320"/>
          </a:xfrm>
          <a:prstGeom prst="rect">
            <a:avLst/>
          </a:prstGeom>
          <a:noFill/>
          <a:ln/>
        </p:spPr>
        <p:txBody>
          <a:bodyPr wrap="square" lIns="0" tIns="0" rIns="0" bIns="0" rtlCol="0" anchor="ctr"/>
          <a:lstStyle/>
          <a:p>
            <a:pPr indent="0" marL="0">
              <a:buNone/>
            </a:pPr>
            <a:r>
              <a:rPr lang="en-US" sz="1200" dirty="0">
                <a:solidFill>
                  <a:srgbClr val="AEB6C5"/>
                </a:solidFill>
                <a:latin typeface="Calibri" pitchFamily="34" charset="0"/>
                <a:ea typeface="Calibri" pitchFamily="34" charset="-122"/>
                <a:cs typeface="Calibri" pitchFamily="34" charset="-120"/>
              </a:rPr>
              <a:t>1,000 reviews</a:t>
            </a:r>
            <a:endParaRPr lang="en-US" sz="1200" dirty="0"/>
          </a:p>
        </p:txBody>
      </p:sp>
      <p:sp>
        <p:nvSpPr>
          <p:cNvPr id="6" name="Text 4"/>
          <p:cNvSpPr txBox="1"/>
          <p:nvPr/>
        </p:nvSpPr>
        <p:spPr>
          <a:xfrm>
            <a:off x="914400" y="2560320"/>
            <a:ext cx="2971800" cy="16916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“they accepted order first and deducted the amount… asking me to cancel the order”</a:t>
            </a:r>
            <a:endParaRPr lang="en-US" sz="1800" dirty="0"/>
          </a:p>
        </p:txBody>
      </p:sp>
      <p:sp>
        <p:nvSpPr>
          <p:cNvPr id="7" name="side 2"/>
          <p:cNvSpPr/>
          <p:nvPr/>
        </p:nvSpPr>
        <p:spPr>
          <a:xfrm>
            <a:off x="4343400" y="1600200"/>
            <a:ext cx="3474720" cy="2514600"/>
          </a:xfrm>
          <a:prstGeom prst="roundRect">
            <a:avLst>
              <a:gd name="adj" fmla="val 4364"/>
            </a:avLst>
          </a:prstGeom>
          <a:solidFill>
            <a:srgbClr val="1E2E52"/>
          </a:solidFill>
          <a:ln w="12700">
            <a:solidFill>
              <a:srgbClr val="1E2E52"/>
            </a:solidFill>
            <a:prstDash val="solid"/>
          </a:ln>
        </p:spPr>
      </p:sp>
      <p:sp>
        <p:nvSpPr>
          <p:cNvPr id="8" name="Text 6"/>
          <p:cNvSpPr txBox="1"/>
          <p:nvPr/>
        </p:nvSpPr>
        <p:spPr>
          <a:xfrm>
            <a:off x="4617720" y="1828800"/>
            <a:ext cx="292608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RESTAURANT APP</a:t>
            </a:r>
            <a:endParaRPr lang="en-US" sz="1400" dirty="0"/>
          </a:p>
        </p:txBody>
      </p:sp>
      <p:sp>
        <p:nvSpPr>
          <p:cNvPr id="9" name="Text 7"/>
          <p:cNvSpPr txBox="1"/>
          <p:nvPr/>
        </p:nvSpPr>
        <p:spPr>
          <a:xfrm>
            <a:off x="4617720" y="2148840"/>
            <a:ext cx="2926080" cy="274320"/>
          </a:xfrm>
          <a:prstGeom prst="rect">
            <a:avLst/>
          </a:prstGeom>
          <a:noFill/>
          <a:ln/>
        </p:spPr>
        <p:txBody>
          <a:bodyPr wrap="square" lIns="0" tIns="0" rIns="0" bIns="0" rtlCol="0" anchor="ctr"/>
          <a:lstStyle/>
          <a:p>
            <a:pPr indent="0" marL="0">
              <a:buNone/>
            </a:pPr>
            <a:r>
              <a:rPr lang="en-US" sz="1200" dirty="0">
                <a:solidFill>
                  <a:srgbClr val="AEB6C5"/>
                </a:solidFill>
                <a:latin typeface="Calibri" pitchFamily="34" charset="0"/>
                <a:ea typeface="Calibri" pitchFamily="34" charset="-122"/>
                <a:cs typeface="Calibri" pitchFamily="34" charset="-120"/>
              </a:rPr>
              <a:t>105 reviews</a:t>
            </a:r>
            <a:endParaRPr lang="en-US" sz="1200" dirty="0"/>
          </a:p>
        </p:txBody>
      </p:sp>
      <p:sp>
        <p:nvSpPr>
          <p:cNvPr id="10" name="Text 8"/>
          <p:cNvSpPr txBox="1"/>
          <p:nvPr/>
        </p:nvSpPr>
        <p:spPr>
          <a:xfrm>
            <a:off x="4617720" y="2560320"/>
            <a:ext cx="2971800" cy="16916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“notification of order is not working… order getting cancelled without our knowledge”</a:t>
            </a:r>
            <a:endParaRPr lang="en-US" sz="1800" dirty="0"/>
          </a:p>
        </p:txBody>
      </p:sp>
      <p:sp>
        <p:nvSpPr>
          <p:cNvPr id="11" name="side 3"/>
          <p:cNvSpPr/>
          <p:nvPr/>
        </p:nvSpPr>
        <p:spPr>
          <a:xfrm>
            <a:off x="8046720" y="1600200"/>
            <a:ext cx="3474720" cy="2514600"/>
          </a:xfrm>
          <a:prstGeom prst="roundRect">
            <a:avLst>
              <a:gd name="adj" fmla="val 4364"/>
            </a:avLst>
          </a:prstGeom>
          <a:solidFill>
            <a:srgbClr val="1E2E52"/>
          </a:solidFill>
          <a:ln w="12700">
            <a:solidFill>
              <a:srgbClr val="1E2E52"/>
            </a:solidFill>
            <a:prstDash val="solid"/>
          </a:ln>
        </p:spPr>
      </p:sp>
      <p:sp>
        <p:nvSpPr>
          <p:cNvPr id="12" name="Text 10"/>
          <p:cNvSpPr txBox="1"/>
          <p:nvPr/>
        </p:nvSpPr>
        <p:spPr>
          <a:xfrm>
            <a:off x="8321040" y="1828800"/>
            <a:ext cx="292608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CAPTAIN APP</a:t>
            </a:r>
            <a:endParaRPr lang="en-US" sz="1400" dirty="0"/>
          </a:p>
        </p:txBody>
      </p:sp>
      <p:sp>
        <p:nvSpPr>
          <p:cNvPr id="13" name="Text 11"/>
          <p:cNvSpPr txBox="1"/>
          <p:nvPr/>
        </p:nvSpPr>
        <p:spPr>
          <a:xfrm>
            <a:off x="8321040" y="2148840"/>
            <a:ext cx="2926080" cy="274320"/>
          </a:xfrm>
          <a:prstGeom prst="rect">
            <a:avLst/>
          </a:prstGeom>
          <a:noFill/>
          <a:ln/>
        </p:spPr>
        <p:txBody>
          <a:bodyPr wrap="square" lIns="0" tIns="0" rIns="0" bIns="0" rtlCol="0" anchor="ctr"/>
          <a:lstStyle/>
          <a:p>
            <a:pPr indent="0" marL="0">
              <a:buNone/>
            </a:pPr>
            <a:r>
              <a:rPr lang="en-US" sz="1200" dirty="0">
                <a:solidFill>
                  <a:srgbClr val="AEB6C5"/>
                </a:solidFill>
                <a:latin typeface="Calibri" pitchFamily="34" charset="0"/>
                <a:ea typeface="Calibri" pitchFamily="34" charset="-122"/>
                <a:cs typeface="Calibri" pitchFamily="34" charset="-120"/>
              </a:rPr>
              <a:t>376 reviews</a:t>
            </a:r>
            <a:endParaRPr lang="en-US" sz="1200" dirty="0"/>
          </a:p>
        </p:txBody>
      </p:sp>
      <p:sp>
        <p:nvSpPr>
          <p:cNvPr id="14" name="Text 12"/>
          <p:cNvSpPr txBox="1"/>
          <p:nvPr/>
        </p:nvSpPr>
        <p:spPr>
          <a:xfrm>
            <a:off x="8321040" y="2560320"/>
            <a:ext cx="2971800" cy="16916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“not getting order 12 hrs” — while customers wait for a captain</a:t>
            </a:r>
            <a:endParaRPr lang="en-US" sz="1800" dirty="0"/>
          </a:p>
        </p:txBody>
      </p:sp>
      <p:sp>
        <p:nvSpPr>
          <p:cNvPr id="15" name="root cause band"/>
          <p:cNvSpPr/>
          <p:nvPr/>
        </p:nvSpPr>
        <p:spPr>
          <a:xfrm>
            <a:off x="640080" y="4434840"/>
            <a:ext cx="10881360" cy="1280160"/>
          </a:xfrm>
          <a:prstGeom prst="roundRect">
            <a:avLst>
              <a:gd name="adj" fmla="val 8571"/>
            </a:avLst>
          </a:prstGeom>
          <a:solidFill>
            <a:schemeClr val="accent1"/>
          </a:solidFill>
          <a:ln w="12700">
            <a:solidFill>
              <a:schemeClr val="accent1"/>
            </a:solidFill>
            <a:prstDash val="solid"/>
          </a:ln>
        </p:spPr>
      </p:sp>
      <p:sp>
        <p:nvSpPr>
          <p:cNvPr id="16" name="Text 14"/>
          <p:cNvSpPr txBox="1"/>
          <p:nvPr/>
        </p:nvSpPr>
        <p:spPr>
          <a:xfrm>
            <a:off x="914400" y="4526280"/>
            <a:ext cx="10332720" cy="1097280"/>
          </a:xfrm>
          <a:prstGeom prst="rect">
            <a:avLst/>
          </a:prstGeom>
          <a:noFill/>
          <a:ln/>
        </p:spPr>
        <p:txBody>
          <a:bodyPr wrap="square" lIns="0" tIns="0" rIns="0" bIns="0" rtlCol="0" anchor="ctr"/>
          <a:lstStyle/>
          <a:p>
            <a:pPr indent="0" marL="0">
              <a:buNone/>
            </a:pPr>
            <a:r>
              <a:rPr lang="en-US" sz="2200" b="1" dirty="0">
                <a:solidFill>
                  <a:schemeClr val="bg1"/>
                </a:solidFill>
                <a:latin typeface="Calibri" pitchFamily="34" charset="0"/>
                <a:ea typeface="Calibri" pitchFamily="34" charset="-122"/>
                <a:cs typeface="Calibri" pitchFamily="34" charset="-120"/>
              </a:rPr>
              <a:t>Nothing in the order flow has to prove a handoff happened,</a:t>
            </a:r>
            <a:endParaRPr lang="en-US" sz="2200" dirty="0"/>
          </a:p>
          <a:p>
            <a:pPr indent="0" marL="0">
              <a:buNone/>
            </a:pPr>
            <a:r>
              <a:rPr lang="en-US" sz="2200" b="1" dirty="0">
                <a:solidFill>
                  <a:schemeClr val="bg1"/>
                </a:solidFill>
                <a:latin typeface="Calibri" pitchFamily="34" charset="0"/>
                <a:ea typeface="Calibri" pitchFamily="34" charset="-122"/>
                <a:cs typeface="Calibri" pitchFamily="34" charset="-120"/>
              </a:rPr>
              <a:t>and nothing refunds the customer automatically when one fails.</a:t>
            </a:r>
            <a:endParaRPr lang="en-US" sz="22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tx1"/>
                </a:solidFill>
              </a:rPr>
              <a:t>Measure first, then build the Ownly Promise</a:t>
            </a:r>
            <a:endParaRPr lang="en-US" sz="3600" dirty="0"/>
          </a:p>
        </p:txBody>
      </p:sp>
      <p:sp>
        <p:nvSpPr>
          <p:cNvPr id="3" name="step 1"/>
          <p:cNvSpPr/>
          <p:nvPr/>
        </p:nvSpPr>
        <p:spPr>
          <a:xfrm>
            <a:off x="640080" y="1691640"/>
            <a:ext cx="3474720" cy="3566160"/>
          </a:xfrm>
          <a:prstGeom prst="roundRect">
            <a:avLst>
              <a:gd name="adj" fmla="val 3158"/>
            </a:avLst>
          </a:prstGeom>
          <a:solidFill>
            <a:srgbClr val="F3F5F8"/>
          </a:solidFill>
          <a:ln w="12700">
            <a:solidFill>
              <a:srgbClr val="F3F5F8"/>
            </a:solidFill>
            <a:prstDash val="solid"/>
          </a:ln>
        </p:spPr>
      </p:sp>
      <p:sp>
        <p:nvSpPr>
          <p:cNvPr id="4" name="Shape 2"/>
          <p:cNvSpPr/>
          <p:nvPr/>
        </p:nvSpPr>
        <p:spPr>
          <a:xfrm>
            <a:off x="914400" y="1965960"/>
            <a:ext cx="548640" cy="548640"/>
          </a:xfrm>
          <a:prstGeom prst="ellipse">
            <a:avLst/>
          </a:prstGeom>
          <a:solidFill>
            <a:schemeClr val="tx1"/>
          </a:solidFill>
          <a:ln w="12700">
            <a:solidFill>
              <a:schemeClr val="tx1"/>
            </a:solidFill>
            <a:prstDash val="solid"/>
          </a:ln>
        </p:spPr>
      </p:sp>
      <p:sp>
        <p:nvSpPr>
          <p:cNvPr id="5" name="Text 3"/>
          <p:cNvSpPr txBox="1"/>
          <p:nvPr/>
        </p:nvSpPr>
        <p:spPr>
          <a:xfrm>
            <a:off x="91440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600200" y="1965960"/>
            <a:ext cx="2377440" cy="54864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Measure</a:t>
            </a:r>
            <a:endParaRPr lang="en-US" sz="2600" dirty="0"/>
          </a:p>
        </p:txBody>
      </p:sp>
      <p:sp>
        <p:nvSpPr>
          <p:cNvPr id="7" name="Text 5"/>
          <p:cNvSpPr txBox="1"/>
          <p:nvPr/>
        </p:nvSpPr>
        <p:spPr>
          <a:xfrm>
            <a:off x="914400" y="2743200"/>
            <a:ext cx="292608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2 weeks</a:t>
            </a:r>
            <a:endParaRPr lang="en-US" sz="1600" dirty="0"/>
          </a:p>
        </p:txBody>
      </p:sp>
      <p:sp>
        <p:nvSpPr>
          <p:cNvPr id="8" name="Text 6"/>
          <p:cNvSpPr txBox="1"/>
          <p:nvPr/>
        </p:nvSpPr>
        <p:spPr>
          <a:xfrm>
            <a:off x="914400" y="3200400"/>
            <a:ext cx="2971800" cy="192024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How many orders really fail? Do those customers come back? If it's small, stop here.</a:t>
            </a:r>
            <a:endParaRPr lang="en-US" sz="2000" dirty="0"/>
          </a:p>
        </p:txBody>
      </p:sp>
      <p:sp>
        <p:nvSpPr>
          <p:cNvPr id="9" name="Shape 7"/>
          <p:cNvSpPr/>
          <p:nvPr/>
        </p:nvSpPr>
        <p:spPr>
          <a:xfrm>
            <a:off x="4151376" y="3520440"/>
            <a:ext cx="164592" cy="329184"/>
          </a:xfrm>
          <a:prstGeom prst="chevron">
            <a:avLst/>
          </a:prstGeom>
          <a:solidFill>
            <a:srgbClr val="AEB6C5"/>
          </a:solidFill>
          <a:ln w="12700">
            <a:solidFill>
              <a:srgbClr val="AEB6C5"/>
            </a:solidFill>
            <a:prstDash val="solid"/>
          </a:ln>
        </p:spPr>
      </p:sp>
      <p:sp>
        <p:nvSpPr>
          <p:cNvPr id="10" name="step 2"/>
          <p:cNvSpPr/>
          <p:nvPr/>
        </p:nvSpPr>
        <p:spPr>
          <a:xfrm>
            <a:off x="4343400" y="1691640"/>
            <a:ext cx="3474720" cy="3566160"/>
          </a:xfrm>
          <a:prstGeom prst="roundRect">
            <a:avLst>
              <a:gd name="adj" fmla="val 3158"/>
            </a:avLst>
          </a:prstGeom>
          <a:solidFill>
            <a:srgbClr val="FDECE6"/>
          </a:solidFill>
          <a:ln w="12700">
            <a:solidFill>
              <a:srgbClr val="FDECE6"/>
            </a:solidFill>
            <a:prstDash val="solid"/>
          </a:ln>
        </p:spPr>
      </p:sp>
      <p:sp>
        <p:nvSpPr>
          <p:cNvPr id="11" name="Shape 9"/>
          <p:cNvSpPr/>
          <p:nvPr/>
        </p:nvSpPr>
        <p:spPr>
          <a:xfrm>
            <a:off x="4617720" y="196596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461772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5303520" y="1965960"/>
            <a:ext cx="2377440" cy="54864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Build</a:t>
            </a:r>
            <a:endParaRPr lang="en-US" sz="2600" dirty="0"/>
          </a:p>
        </p:txBody>
      </p:sp>
      <p:sp>
        <p:nvSpPr>
          <p:cNvPr id="14" name="Text 12"/>
          <p:cNvSpPr txBox="1"/>
          <p:nvPr/>
        </p:nvSpPr>
        <p:spPr>
          <a:xfrm>
            <a:off x="4617720" y="2743200"/>
            <a:ext cx="292608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Ownly Promise v1</a:t>
            </a:r>
            <a:endParaRPr lang="en-US" sz="1600" dirty="0"/>
          </a:p>
        </p:txBody>
      </p:sp>
      <p:sp>
        <p:nvSpPr>
          <p:cNvPr id="15" name="Text 13"/>
          <p:cNvSpPr txBox="1"/>
          <p:nvPr/>
        </p:nvSpPr>
        <p:spPr>
          <a:xfrm>
            <a:off x="4617720" y="3200400"/>
            <a:ext cx="2971800" cy="192024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A 4-digit delivery code at handover, plus automatic refunds: cancelled after payment, no captain in 20 min, ‘not received’.</a:t>
            </a:r>
            <a:endParaRPr lang="en-US" sz="2000" dirty="0"/>
          </a:p>
        </p:txBody>
      </p:sp>
      <p:sp>
        <p:nvSpPr>
          <p:cNvPr id="16" name="Shape 14"/>
          <p:cNvSpPr/>
          <p:nvPr/>
        </p:nvSpPr>
        <p:spPr>
          <a:xfrm>
            <a:off x="7854696" y="3520440"/>
            <a:ext cx="164592" cy="329184"/>
          </a:xfrm>
          <a:prstGeom prst="chevron">
            <a:avLst/>
          </a:prstGeom>
          <a:solidFill>
            <a:srgbClr val="AEB6C5"/>
          </a:solidFill>
          <a:ln w="12700">
            <a:solidFill>
              <a:srgbClr val="AEB6C5"/>
            </a:solidFill>
            <a:prstDash val="solid"/>
          </a:ln>
        </p:spPr>
      </p:sp>
      <p:sp>
        <p:nvSpPr>
          <p:cNvPr id="17" name="step 3"/>
          <p:cNvSpPr/>
          <p:nvPr/>
        </p:nvSpPr>
        <p:spPr>
          <a:xfrm>
            <a:off x="8046720" y="1691640"/>
            <a:ext cx="3474720" cy="3566160"/>
          </a:xfrm>
          <a:prstGeom prst="roundRect">
            <a:avLst>
              <a:gd name="adj" fmla="val 3158"/>
            </a:avLst>
          </a:prstGeom>
          <a:solidFill>
            <a:srgbClr val="E4F4ED"/>
          </a:solidFill>
          <a:ln w="12700">
            <a:solidFill>
              <a:srgbClr val="E4F4ED"/>
            </a:solidFill>
            <a:prstDash val="solid"/>
          </a:ln>
        </p:spPr>
      </p:sp>
      <p:sp>
        <p:nvSpPr>
          <p:cNvPr id="18" name="Shape 16"/>
          <p:cNvSpPr/>
          <p:nvPr/>
        </p:nvSpPr>
        <p:spPr>
          <a:xfrm>
            <a:off x="8321040" y="1965960"/>
            <a:ext cx="548640" cy="548640"/>
          </a:xfrm>
          <a:prstGeom prst="ellipse">
            <a:avLst/>
          </a:prstGeom>
          <a:solidFill>
            <a:schemeClr val="accent2"/>
          </a:solidFill>
          <a:ln w="12700">
            <a:solidFill>
              <a:schemeClr val="accent2"/>
            </a:solidFill>
            <a:prstDash val="solid"/>
          </a:ln>
        </p:spPr>
      </p:sp>
      <p:sp>
        <p:nvSpPr>
          <p:cNvPr id="19" name="Text 17"/>
          <p:cNvSpPr txBox="1"/>
          <p:nvPr/>
        </p:nvSpPr>
        <p:spPr>
          <a:xfrm>
            <a:off x="832104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9006840" y="1965960"/>
            <a:ext cx="2377440" cy="54864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Prove</a:t>
            </a:r>
            <a:endParaRPr lang="en-US" sz="2600" dirty="0"/>
          </a:p>
        </p:txBody>
      </p:sp>
      <p:sp>
        <p:nvSpPr>
          <p:cNvPr id="21" name="Text 19"/>
          <p:cNvSpPr txBox="1"/>
          <p:nvPr/>
        </p:nvSpPr>
        <p:spPr>
          <a:xfrm>
            <a:off x="8321040" y="2743200"/>
            <a:ext cx="292608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4-week zone pilot</a:t>
            </a:r>
            <a:endParaRPr lang="en-US" sz="1600" dirty="0"/>
          </a:p>
        </p:txBody>
      </p:sp>
      <p:sp>
        <p:nvSpPr>
          <p:cNvPr id="22" name="Text 20"/>
          <p:cNvSpPr txBox="1"/>
          <p:nvPr/>
        </p:nvSpPr>
        <p:spPr>
          <a:xfrm>
            <a:off x="8321040" y="3200400"/>
            <a:ext cx="2971800" cy="192024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Scale only if ‘I never got my order’ claims fall and captains keep accepting food orders.</a:t>
            </a:r>
            <a:endParaRPr lang="en-US" sz="2000" dirty="0"/>
          </a:p>
        </p:txBody>
      </p:sp>
      <p:sp>
        <p:nvSpPr>
          <p:cNvPr id="23" name="Text 21"/>
          <p:cNvSpPr txBox="1"/>
          <p:nvPr/>
        </p:nvSpPr>
        <p:spPr>
          <a:xfrm>
            <a:off x="640080" y="5532120"/>
            <a:ext cx="10881360" cy="320040"/>
          </a:xfrm>
          <a:prstGeom prst="rect">
            <a:avLst/>
          </a:prstGeom>
          <a:noFill/>
          <a:ln/>
        </p:spPr>
        <p:txBody>
          <a:bodyPr wrap="square" lIns="0" tIns="0" rIns="0" bIns="0" rtlCol="0" anchor="ctr"/>
          <a:lstStyle/>
          <a:p>
            <a:pPr indent="0" marL="0">
              <a:buNone/>
            </a:pPr>
            <a:r>
              <a:rPr lang="en-US" sz="1600" i="1" dirty="0">
                <a:solidFill>
                  <a:schemeClr val="tx2"/>
                </a:solidFill>
                <a:latin typeface="Calibri" pitchFamily="34" charset="0"/>
                <a:ea typeface="Calibri" pitchFamily="34" charset="-122"/>
                <a:cs typeface="Calibri" pitchFamily="34" charset="-120"/>
              </a:rPr>
              <a:t>No feature is built before step 1. If failures are rare and customers still return, the team moves to a different problem.</a:t>
            </a:r>
            <a:endParaRPr lang="en-US" sz="16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tx1"/>
                </a:solidFill>
              </a:rPr>
              <a:t>Food, or your money back in minutes</a:t>
            </a:r>
            <a:endParaRPr lang="en-US" sz="3600" dirty="0"/>
          </a:p>
        </p:txBody>
      </p:sp>
      <p:pic>
        <p:nvPicPr>
          <p:cNvPr id="3" name="Image 0" descr="Wireframe: Code at the door">    </p:cNvPr>
          <p:cNvPicPr>
            <a:picLocks noChangeAspect="1"/>
          </p:cNvPicPr>
          <p:nvPr/>
        </p:nvPicPr>
        <p:blipFill>
          <a:blip r:embed="rId1"/>
          <a:stretch>
            <a:fillRect/>
          </a:stretch>
        </p:blipFill>
        <p:spPr>
          <a:xfrm>
            <a:off x="640080" y="1600200"/>
            <a:ext cx="2011680" cy="3904488"/>
          </a:xfrm>
          <a:prstGeom prst="rect">
            <a:avLst/>
          </a:prstGeom>
        </p:spPr>
      </p:pic>
      <p:sp>
        <p:nvSpPr>
          <p:cNvPr id="4" name="Text 1"/>
          <p:cNvSpPr txBox="1"/>
          <p:nvPr/>
        </p:nvSpPr>
        <p:spPr>
          <a:xfrm>
            <a:off x="640080" y="5577840"/>
            <a:ext cx="20116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Code at the door</a:t>
            </a:r>
            <a:endParaRPr lang="en-US" sz="1400" dirty="0"/>
          </a:p>
        </p:txBody>
      </p:sp>
      <p:pic>
        <p:nvPicPr>
          <p:cNvPr id="5" name="Image 1" descr="Wireframe: No captain? Your choice">    </p:cNvPr>
          <p:cNvPicPr>
            <a:picLocks noChangeAspect="1"/>
          </p:cNvPicPr>
          <p:nvPr/>
        </p:nvPicPr>
        <p:blipFill>
          <a:blip r:embed="rId2"/>
          <a:stretch>
            <a:fillRect/>
          </a:stretch>
        </p:blipFill>
        <p:spPr>
          <a:xfrm>
            <a:off x="2880360" y="1600200"/>
            <a:ext cx="2011680" cy="3904488"/>
          </a:xfrm>
          <a:prstGeom prst="rect">
            <a:avLst/>
          </a:prstGeom>
        </p:spPr>
      </p:pic>
      <p:sp>
        <p:nvSpPr>
          <p:cNvPr id="6" name="Text 2"/>
          <p:cNvSpPr txBox="1"/>
          <p:nvPr/>
        </p:nvSpPr>
        <p:spPr>
          <a:xfrm>
            <a:off x="2880360" y="5577840"/>
            <a:ext cx="20116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No captain? Your choice</a:t>
            </a:r>
            <a:endParaRPr lang="en-US" sz="1400" dirty="0"/>
          </a:p>
        </p:txBody>
      </p:sp>
      <p:pic>
        <p:nvPicPr>
          <p:cNvPr id="7" name="Image 2" descr="Wireframe: Refund as a fact">    </p:cNvPr>
          <p:cNvPicPr>
            <a:picLocks noChangeAspect="1"/>
          </p:cNvPicPr>
          <p:nvPr/>
        </p:nvPicPr>
        <p:blipFill>
          <a:blip r:embed="rId3"/>
          <a:stretch>
            <a:fillRect/>
          </a:stretch>
        </p:blipFill>
        <p:spPr>
          <a:xfrm>
            <a:off x="5120640" y="1600200"/>
            <a:ext cx="2011680" cy="3904488"/>
          </a:xfrm>
          <a:prstGeom prst="rect">
            <a:avLst/>
          </a:prstGeom>
        </p:spPr>
      </p:pic>
      <p:sp>
        <p:nvSpPr>
          <p:cNvPr id="8" name="Text 3"/>
          <p:cNvSpPr txBox="1"/>
          <p:nvPr/>
        </p:nvSpPr>
        <p:spPr>
          <a:xfrm>
            <a:off x="5120640" y="5577840"/>
            <a:ext cx="20116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Refund as a fact</a:t>
            </a:r>
            <a:endParaRPr lang="en-US" sz="1400" dirty="0"/>
          </a:p>
        </p:txBody>
      </p:sp>
      <p:sp>
        <p:nvSpPr>
          <p:cNvPr id="9" name="metrics card"/>
          <p:cNvSpPr/>
          <p:nvPr/>
        </p:nvSpPr>
        <p:spPr>
          <a:xfrm>
            <a:off x="7543800" y="1600200"/>
            <a:ext cx="3977640" cy="4297680"/>
          </a:xfrm>
          <a:prstGeom prst="roundRect">
            <a:avLst>
              <a:gd name="adj" fmla="val 2759"/>
            </a:avLst>
          </a:prstGeom>
          <a:solidFill>
            <a:srgbClr val="F3F5F8"/>
          </a:solidFill>
          <a:ln w="12700">
            <a:solidFill>
              <a:srgbClr val="F3F5F8"/>
            </a:solidFill>
            <a:prstDash val="solid"/>
          </a:ln>
        </p:spPr>
      </p:sp>
      <p:sp>
        <p:nvSpPr>
          <p:cNvPr id="10" name="Text 5"/>
          <p:cNvSpPr txBox="1"/>
          <p:nvPr/>
        </p:nvSpPr>
        <p:spPr>
          <a:xfrm>
            <a:off x="7818120" y="1783080"/>
            <a:ext cx="3474720" cy="320040"/>
          </a:xfrm>
          <a:prstGeom prst="rect">
            <a:avLst/>
          </a:prstGeom>
          <a:noFill/>
          <a:ln/>
        </p:spPr>
        <p:txBody>
          <a:bodyPr wrap="square" lIns="0" tIns="0" rIns="0" bIns="0" rtlCol="0" anchor="ctr"/>
          <a:lstStyle/>
          <a:p>
            <a:pPr indent="0" marL="0">
              <a:buNone/>
            </a:pPr>
            <a:r>
              <a:rPr lang="en-US" sz="1400" b="1" spc="200" kern="0" dirty="0">
                <a:solidFill>
                  <a:schemeClr val="accent3"/>
                </a:solidFill>
                <a:latin typeface="Calibri" pitchFamily="34" charset="0"/>
                <a:ea typeface="Calibri" pitchFamily="34" charset="-122"/>
                <a:cs typeface="Calibri" pitchFamily="34" charset="-120"/>
              </a:rPr>
              <a:t>HOW WE'LL KNOW</a:t>
            </a:r>
            <a:endParaRPr lang="en-US" sz="1400" dirty="0"/>
          </a:p>
        </p:txBody>
      </p:sp>
      <p:sp>
        <p:nvSpPr>
          <p:cNvPr id="11" name="Text 6"/>
          <p:cNvSpPr txBox="1"/>
          <p:nvPr/>
        </p:nvSpPr>
        <p:spPr>
          <a:xfrm>
            <a:off x="7818120" y="2194560"/>
            <a:ext cx="3520440" cy="914400"/>
          </a:xfrm>
          <a:prstGeom prst="rect">
            <a:avLst/>
          </a:prstGeom>
          <a:noFill/>
          <a:ln/>
        </p:spPr>
        <p:txBody>
          <a:bodyPr wrap="square" lIns="0" tIns="0" rIns="0" bIns="0" rtlCol="0" anchor="t"/>
          <a:lstStyle/>
          <a:p>
            <a:pPr indent="0" marL="0">
              <a:buNone/>
            </a:pPr>
            <a:r>
              <a:rPr lang="en-US" sz="3200" b="1" dirty="0">
                <a:solidFill>
                  <a:schemeClr val="accent2"/>
                </a:solidFill>
                <a:latin typeface="Calibri" pitchFamily="34" charset="0"/>
                <a:ea typeface="Calibri" pitchFamily="34" charset="-122"/>
                <a:cs typeface="Calibri" pitchFamily="34" charset="-120"/>
              </a:rPr>
              <a:t>−40%</a:t>
            </a:r>
            <a:endParaRPr lang="en-US" sz="3200" dirty="0"/>
          </a:p>
          <a:p>
            <a:pPr indent="0" marL="0">
              <a:buNone/>
            </a:pPr>
            <a:r>
              <a:rPr lang="en-US" sz="1400" dirty="0">
                <a:solidFill>
                  <a:schemeClr val="tx2"/>
                </a:solidFill>
                <a:latin typeface="Calibri" pitchFamily="34" charset="0"/>
                <a:ea typeface="Calibri" pitchFamily="34" charset="-122"/>
                <a:cs typeface="Calibri" pitchFamily="34" charset="-120"/>
              </a:rPr>
              <a:t>‘not received’ claims per 1,000 orders: the bar to scale</a:t>
            </a:r>
            <a:endParaRPr lang="en-US" sz="3200" dirty="0"/>
          </a:p>
        </p:txBody>
      </p:sp>
      <p:sp>
        <p:nvSpPr>
          <p:cNvPr id="12" name="Text 7"/>
          <p:cNvSpPr txBox="1"/>
          <p:nvPr/>
        </p:nvSpPr>
        <p:spPr>
          <a:xfrm>
            <a:off x="7818120" y="3337560"/>
            <a:ext cx="3520440" cy="91440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North Star</a:t>
            </a:r>
            <a:endParaRPr lang="en-US" sz="2000" dirty="0"/>
          </a:p>
          <a:p>
            <a:pPr indent="0" marL="0">
              <a:buNone/>
            </a:pPr>
            <a:r>
              <a:rPr lang="en-US" sz="1400" dirty="0">
                <a:solidFill>
                  <a:schemeClr val="tx2"/>
                </a:solidFill>
                <a:latin typeface="Calibri" pitchFamily="34" charset="0"/>
                <a:ea typeface="Calibri" pitchFamily="34" charset="-122"/>
                <a:cs typeface="Calibri" pitchFamily="34" charset="-120"/>
              </a:rPr>
              <a:t>weekly orders where the promise was kept</a:t>
            </a:r>
            <a:endParaRPr lang="en-US" sz="2000" dirty="0"/>
          </a:p>
        </p:txBody>
      </p:sp>
      <p:sp>
        <p:nvSpPr>
          <p:cNvPr id="13" name="Text 8"/>
          <p:cNvSpPr txBox="1"/>
          <p:nvPr/>
        </p:nvSpPr>
        <p:spPr>
          <a:xfrm>
            <a:off x="7818120" y="4206240"/>
            <a:ext cx="3520440" cy="91440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Guardrail</a:t>
            </a:r>
            <a:endParaRPr lang="en-US" sz="2000" dirty="0"/>
          </a:p>
          <a:p>
            <a:pPr indent="0" marL="0">
              <a:buNone/>
            </a:pPr>
            <a:r>
              <a:rPr lang="en-US" sz="1400" dirty="0">
                <a:solidFill>
                  <a:schemeClr val="tx2"/>
                </a:solidFill>
                <a:latin typeface="Calibri" pitchFamily="34" charset="0"/>
                <a:ea typeface="Calibri" pitchFamily="34" charset="-122"/>
                <a:cs typeface="Calibri" pitchFamily="34" charset="-120"/>
              </a:rPr>
              <a:t>captains keep accepting food orders</a:t>
            </a:r>
            <a:endParaRPr lang="en-US" sz="2000" dirty="0"/>
          </a:p>
        </p:txBody>
      </p:sp>
      <p:sp>
        <p:nvSpPr>
          <p:cNvPr id="14" name="Text 9"/>
          <p:cNvSpPr txBox="1"/>
          <p:nvPr/>
        </p:nvSpPr>
        <p:spPr>
          <a:xfrm>
            <a:off x="7818120" y="5440680"/>
            <a:ext cx="3520440" cy="365760"/>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Targets, not results. Nothing has been built or tested.</a:t>
            </a:r>
            <a:endParaRPr lang="en-US" sz="12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1005840"/>
          </a:xfrm>
          <a:prstGeom prst="rect">
            <a:avLst/>
          </a:prstGeom>
          <a:noFill/>
          <a:ln/>
        </p:spPr>
        <p:txBody>
          <a:bodyPr wrap="square" lIns="0" tIns="0" rIns="0" bIns="0" rtlCol="0" anchor="t"/>
          <a:lstStyle/>
          <a:p>
            <a:pPr algn="l" indent="0" marL="0">
              <a:buNone/>
            </a:pPr>
            <a:r>
              <a:rPr lang="en-US" sz="3600" b="1" dirty="0">
                <a:solidFill>
                  <a:schemeClr val="bg1"/>
                </a:solidFill>
              </a:rPr>
              <a:t>I'd like to build this with you as an APM at Ownly</a:t>
            </a:r>
            <a:endParaRPr lang="en-US" sz="3600" dirty="0"/>
          </a:p>
        </p:txBody>
      </p:sp>
      <p:sp>
        <p:nvSpPr>
          <p:cNvPr id="3" name="ask 1"/>
          <p:cNvSpPr/>
          <p:nvPr/>
        </p:nvSpPr>
        <p:spPr>
          <a:xfrm>
            <a:off x="640080" y="1691640"/>
            <a:ext cx="3474720" cy="1783080"/>
          </a:xfrm>
          <a:prstGeom prst="roundRect">
            <a:avLst>
              <a:gd name="adj" fmla="val 6154"/>
            </a:avLst>
          </a:prstGeom>
          <a:solidFill>
            <a:srgbClr val="1E2E52"/>
          </a:solidFill>
          <a:ln w="12700">
            <a:solidFill>
              <a:srgbClr val="1E2E52"/>
            </a:solidFill>
            <a:prstDash val="solid"/>
          </a:ln>
        </p:spPr>
      </p:sp>
      <p:sp>
        <p:nvSpPr>
          <p:cNvPr id="4" name="Text 2"/>
          <p:cNvSpPr txBox="1"/>
          <p:nvPr/>
        </p:nvSpPr>
        <p:spPr>
          <a:xfrm>
            <a:off x="914400" y="1920240"/>
            <a:ext cx="2971800" cy="141732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Calibri" pitchFamily="34" charset="0"/>
                <a:ea typeface="Calibri" pitchFamily="34" charset="-122"/>
                <a:cs typeface="Calibri" pitchFamily="34" charset="-120"/>
              </a:rPr>
              <a:t>43-page case study</a:t>
            </a:r>
            <a:endParaRPr lang="en-US" sz="2000" dirty="0"/>
          </a:p>
          <a:p>
            <a:pPr indent="0" marL="0">
              <a:spcAft>
                <a:spcPts val="600"/>
              </a:spcAft>
              <a:buNone/>
            </a:pPr>
            <a:r>
              <a:rPr lang="en-US" sz="1500" dirty="0">
                <a:solidFill>
                  <a:srgbClr val="AEB6C5"/>
                </a:solidFill>
                <a:latin typeface="Calibri" pitchFamily="34" charset="0"/>
                <a:ea typeface="Calibri" pitchFamily="34" charset="-122"/>
                <a:cs typeface="Calibri" pitchFamily="34" charset="-120"/>
              </a:rPr>
              <a:t>Evidence, root cause, competing explanations, MVP, PRD, experiment and risks</a:t>
            </a:r>
            <a:endParaRPr lang="en-US" sz="2000" dirty="0"/>
          </a:p>
        </p:txBody>
      </p:sp>
      <p:sp>
        <p:nvSpPr>
          <p:cNvPr id="5" name="ask 2"/>
          <p:cNvSpPr/>
          <p:nvPr/>
        </p:nvSpPr>
        <p:spPr>
          <a:xfrm>
            <a:off x="4343400" y="1691640"/>
            <a:ext cx="3474720" cy="1783080"/>
          </a:xfrm>
          <a:prstGeom prst="roundRect">
            <a:avLst>
              <a:gd name="adj" fmla="val 6154"/>
            </a:avLst>
          </a:prstGeom>
          <a:solidFill>
            <a:srgbClr val="1E2E52"/>
          </a:solidFill>
          <a:ln w="12700">
            <a:solidFill>
              <a:srgbClr val="1E2E52"/>
            </a:solidFill>
            <a:prstDash val="solid"/>
          </a:ln>
        </p:spPr>
      </p:sp>
      <p:sp>
        <p:nvSpPr>
          <p:cNvPr id="6" name="Text 4"/>
          <p:cNvSpPr txBox="1"/>
          <p:nvPr/>
        </p:nvSpPr>
        <p:spPr>
          <a:xfrm>
            <a:off x="4617720" y="1920240"/>
            <a:ext cx="2971800" cy="141732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Calibri" pitchFamily="34" charset="0"/>
                <a:ea typeface="Calibri" pitchFamily="34" charset="-122"/>
                <a:cs typeface="Calibri" pitchFamily="34" charset="-120"/>
              </a:rPr>
              <a:t>One-page summary</a:t>
            </a:r>
            <a:endParaRPr lang="en-US" sz="2000" dirty="0"/>
          </a:p>
          <a:p>
            <a:pPr indent="0" marL="0">
              <a:spcAft>
                <a:spcPts val="600"/>
              </a:spcAft>
              <a:buNone/>
            </a:pPr>
            <a:r>
              <a:rPr lang="en-US" sz="1500" dirty="0">
                <a:solidFill>
                  <a:srgbClr val="AEB6C5"/>
                </a:solidFill>
                <a:latin typeface="Calibri" pitchFamily="34" charset="0"/>
                <a:ea typeface="Calibri" pitchFamily="34" charset="-122"/>
                <a:cs typeface="Calibri" pitchFamily="34" charset="-120"/>
              </a:rPr>
              <a:t>The whole argument in two minutes of reading</a:t>
            </a:r>
            <a:endParaRPr lang="en-US" sz="2000" dirty="0"/>
          </a:p>
        </p:txBody>
      </p:sp>
      <p:sp>
        <p:nvSpPr>
          <p:cNvPr id="7" name="ask 3"/>
          <p:cNvSpPr/>
          <p:nvPr/>
        </p:nvSpPr>
        <p:spPr>
          <a:xfrm>
            <a:off x="8046720" y="1691640"/>
            <a:ext cx="3474720" cy="1783080"/>
          </a:xfrm>
          <a:prstGeom prst="roundRect">
            <a:avLst>
              <a:gd name="adj" fmla="val 6154"/>
            </a:avLst>
          </a:prstGeom>
          <a:solidFill>
            <a:srgbClr val="1E2E52"/>
          </a:solidFill>
          <a:ln w="12700">
            <a:solidFill>
              <a:srgbClr val="1E2E52"/>
            </a:solidFill>
            <a:prstDash val="solid"/>
          </a:ln>
        </p:spPr>
      </p:sp>
      <p:sp>
        <p:nvSpPr>
          <p:cNvPr id="8" name="Text 6"/>
          <p:cNvSpPr txBox="1"/>
          <p:nvPr/>
        </p:nvSpPr>
        <p:spPr>
          <a:xfrm>
            <a:off x="8321040" y="1920240"/>
            <a:ext cx="2971800" cy="141732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Calibri" pitchFamily="34" charset="0"/>
                <a:ea typeface="Calibri" pitchFamily="34" charset="-122"/>
                <a:cs typeface="Calibri" pitchFamily="34" charset="-120"/>
              </a:rPr>
              <a:t>Honest boundary</a:t>
            </a:r>
            <a:endParaRPr lang="en-US" sz="2000" dirty="0"/>
          </a:p>
          <a:p>
            <a:pPr indent="0" marL="0">
              <a:spcAft>
                <a:spcPts val="600"/>
              </a:spcAft>
              <a:buNone/>
            </a:pPr>
            <a:r>
              <a:rPr lang="en-US" sz="1500" dirty="0">
                <a:solidFill>
                  <a:srgbClr val="AEB6C5"/>
                </a:solidFill>
                <a:latin typeface="Calibri" pitchFamily="34" charset="0"/>
                <a:ea typeface="Calibri" pitchFamily="34" charset="-122"/>
                <a:cs typeface="Calibri" pitchFamily="34" charset="-120"/>
              </a:rPr>
              <a:t>Built only on public data. The first thing I'd do is measure what I couldn't see</a:t>
            </a:r>
            <a:endParaRPr lang="en-US" sz="2000" dirty="0"/>
          </a:p>
        </p:txBody>
      </p:sp>
      <p:sp>
        <p:nvSpPr>
          <p:cNvPr id="9" name="Text 7"/>
          <p:cNvSpPr txBox="1"/>
          <p:nvPr/>
        </p:nvSpPr>
        <p:spPr>
          <a:xfrm>
            <a:off x="640080" y="4114800"/>
            <a:ext cx="1088136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libri" pitchFamily="34" charset="0"/>
                <a:ea typeface="Calibri" pitchFamily="34" charset="-122"/>
                <a:cs typeface="Calibri" pitchFamily="34" charset="-120"/>
              </a:rPr>
              <a:t>Can we talk for 15 minutes?</a:t>
            </a:r>
            <a:endParaRPr lang="en-US" sz="4000" dirty="0"/>
          </a:p>
        </p:txBody>
      </p:sp>
      <p:sp>
        <p:nvSpPr>
          <p:cNvPr id="10" name="Text 8"/>
          <p:cNvSpPr txBox="1"/>
          <p:nvPr/>
        </p:nvSpPr>
        <p:spPr>
          <a:xfrm>
            <a:off x="640080" y="4983480"/>
            <a:ext cx="10881360" cy="457200"/>
          </a:xfrm>
          <a:prstGeom prst="rect">
            <a:avLst/>
          </a:prstGeom>
          <a:noFill/>
          <a:ln/>
        </p:spPr>
        <p:txBody>
          <a:bodyPr wrap="square" lIns="0" tIns="0" rIns="0" bIns="0" rtlCol="0" anchor="ctr"/>
          <a:lstStyle/>
          <a:p>
            <a:pPr indent="0" marL="0">
              <a:buNone/>
            </a:pPr>
            <a:r>
              <a:rPr lang="en-US" sz="2000" dirty="0">
                <a:solidFill>
                  <a:schemeClr val="bg1"/>
                </a:solidFill>
                <a:latin typeface="Calibri" pitchFamily="34" charset="0"/>
                <a:ea typeface="Calibri" pitchFamily="34" charset="-122"/>
                <a:cs typeface="Calibri" pitchFamily="34" charset="-120"/>
              </a:rPr>
              <a:t>Mahesh Kontham</a:t>
            </a:r>
            <a:endParaRPr lang="en-US" sz="20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wnly Pitch">
  <a:themeElements>
    <a:clrScheme name="Ownly Pitch">
      <a:dk1>
        <a:srgbClr val="14213D"/>
      </a:dk1>
      <a:lt1>
        <a:srgbClr val="FFFFFF"/>
      </a:lt1>
      <a:dk2>
        <a:srgbClr val="5B6577"/>
      </a:dk2>
      <a:lt2>
        <a:srgbClr val="F3F5F8"/>
      </a:lt2>
      <a:accent1>
        <a:srgbClr val="F2633A"/>
      </a:accent1>
      <a:accent2>
        <a:srgbClr val="1A9E6E"/>
      </a:accent2>
      <a:accent3>
        <a:srgbClr val="2F6FDB"/>
      </a:accent3>
      <a:accent4>
        <a:srgbClr val="F2B33D"/>
      </a:accent4>
      <a:accent5>
        <a:srgbClr val="8A94A6"/>
      </a:accent5>
      <a:accent6>
        <a:srgbClr val="C0392B"/>
      </a:accent6>
      <a:hlink>
        <a:srgbClr val="2F6FDB"/>
      </a:hlink>
      <a:folHlink>
        <a:srgbClr val="6B4FBB"/>
      </a:folHlink>
    </a:clrScheme>
    <a:fontScheme name="Ownly P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Ownly: Paid, no food. A founder pitch</dc:title>
  <dc:subject>PptxGenJS Presentation</dc:subject>
  <dc:creator>Mahesh Kontham</dc:creator>
  <cp:lastModifiedBy>Mahesh Kontham</cp:lastModifiedBy>
  <cp:revision>1</cp:revision>
  <dcterms:created xsi:type="dcterms:W3CDTF">2026-10-08T16:10:54Z</dcterms:created>
  <dcterms:modified xsi:type="dcterms:W3CDTF">2026-10-08T16:10:54Z</dcterms:modified>
</cp:coreProperties>
</file>